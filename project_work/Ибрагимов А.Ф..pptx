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23"/>
  </p:notesMasterIdLst>
  <p:sldIdLst>
    <p:sldId id="256" r:id="rId4"/>
    <p:sldId id="257" r:id="rId5"/>
    <p:sldId id="258" r:id="rId6"/>
    <p:sldId id="259" r:id="rId7"/>
    <p:sldId id="299" r:id="rId8"/>
    <p:sldId id="261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263" r:id="rId20"/>
    <p:sldId id="264" r:id="rId21"/>
    <p:sldId id="265" r:id="rId22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  <p:embeddedFont>
      <p:font typeface="Roboto Medium" panose="02000000000000000000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046C42-8E38-47DE-A3F2-97989C4BC8BF}">
  <a:tblStyle styleId="{B8046C42-8E38-47DE-A3F2-97989C4BC8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font" Target="fonts/font11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8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0A2ACF53-6055-CA06-9A1C-50E259AF4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3ce85d903d_0_654:notes">
            <a:extLst>
              <a:ext uri="{FF2B5EF4-FFF2-40B4-BE49-F238E27FC236}">
                <a16:creationId xmlns:a16="http://schemas.microsoft.com/office/drawing/2014/main" id="{DC32F861-E196-76BB-ADB1-0C4349001F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3ce85d903d_0_654:notes">
            <a:extLst>
              <a:ext uri="{FF2B5EF4-FFF2-40B4-BE49-F238E27FC236}">
                <a16:creationId xmlns:a16="http://schemas.microsoft.com/office/drawing/2014/main" id="{E3C8322C-B1DF-FFB2-A5DE-F02F55CAB9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4410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>
          <a:extLst>
            <a:ext uri="{FF2B5EF4-FFF2-40B4-BE49-F238E27FC236}">
              <a16:creationId xmlns:a16="http://schemas.microsoft.com/office/drawing/2014/main" id="{D3AD4CAA-C4D4-9B44-EF07-EA625CA2E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ce85d903d_0_597:notes">
            <a:extLst>
              <a:ext uri="{FF2B5EF4-FFF2-40B4-BE49-F238E27FC236}">
                <a16:creationId xmlns:a16="http://schemas.microsoft.com/office/drawing/2014/main" id="{7B805265-522C-5D78-CE1A-FA7DC3D551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ce85d903d_0_597:notes">
            <a:extLst>
              <a:ext uri="{FF2B5EF4-FFF2-40B4-BE49-F238E27FC236}">
                <a16:creationId xmlns:a16="http://schemas.microsoft.com/office/drawing/2014/main" id="{C0C98D5E-8C8B-7FB1-D9E9-069A783D0F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6574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>
          <a:extLst>
            <a:ext uri="{FF2B5EF4-FFF2-40B4-BE49-F238E27FC236}">
              <a16:creationId xmlns:a16="http://schemas.microsoft.com/office/drawing/2014/main" id="{987D11EE-8DE8-0770-BEC3-8346F8837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ce85d903d_0_597:notes">
            <a:extLst>
              <a:ext uri="{FF2B5EF4-FFF2-40B4-BE49-F238E27FC236}">
                <a16:creationId xmlns:a16="http://schemas.microsoft.com/office/drawing/2014/main" id="{68E98126-9FF2-4F6E-F184-620A924A27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ce85d903d_0_597:notes">
            <a:extLst>
              <a:ext uri="{FF2B5EF4-FFF2-40B4-BE49-F238E27FC236}">
                <a16:creationId xmlns:a16="http://schemas.microsoft.com/office/drawing/2014/main" id="{5F487201-3DD4-D0E4-0330-7D8448D2CC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1971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>
          <a:extLst>
            <a:ext uri="{FF2B5EF4-FFF2-40B4-BE49-F238E27FC236}">
              <a16:creationId xmlns:a16="http://schemas.microsoft.com/office/drawing/2014/main" id="{F08F03C5-AE4A-2411-8BFF-DF170993D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ce85d903d_0_597:notes">
            <a:extLst>
              <a:ext uri="{FF2B5EF4-FFF2-40B4-BE49-F238E27FC236}">
                <a16:creationId xmlns:a16="http://schemas.microsoft.com/office/drawing/2014/main" id="{4B5EF2B8-2CD8-9E1A-90AE-41166FA7E7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ce85d903d_0_597:notes">
            <a:extLst>
              <a:ext uri="{FF2B5EF4-FFF2-40B4-BE49-F238E27FC236}">
                <a16:creationId xmlns:a16="http://schemas.microsoft.com/office/drawing/2014/main" id="{913762EF-75C6-EBDE-A4FE-19B4366796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7201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>
          <a:extLst>
            <a:ext uri="{FF2B5EF4-FFF2-40B4-BE49-F238E27FC236}">
              <a16:creationId xmlns:a16="http://schemas.microsoft.com/office/drawing/2014/main" id="{425F81ED-9C61-6B0D-E4BE-D2A390348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ce85d903d_0_597:notes">
            <a:extLst>
              <a:ext uri="{FF2B5EF4-FFF2-40B4-BE49-F238E27FC236}">
                <a16:creationId xmlns:a16="http://schemas.microsoft.com/office/drawing/2014/main" id="{D021F25F-EFA5-8982-4C50-9C25F32F1B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ce85d903d_0_597:notes">
            <a:extLst>
              <a:ext uri="{FF2B5EF4-FFF2-40B4-BE49-F238E27FC236}">
                <a16:creationId xmlns:a16="http://schemas.microsoft.com/office/drawing/2014/main" id="{C84F5026-6950-4F36-E75F-2A5062C4A1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6450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>
          <a:extLst>
            <a:ext uri="{FF2B5EF4-FFF2-40B4-BE49-F238E27FC236}">
              <a16:creationId xmlns:a16="http://schemas.microsoft.com/office/drawing/2014/main" id="{D0C6BCF3-518D-7756-8B74-0DF408588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ce85d903d_0_597:notes">
            <a:extLst>
              <a:ext uri="{FF2B5EF4-FFF2-40B4-BE49-F238E27FC236}">
                <a16:creationId xmlns:a16="http://schemas.microsoft.com/office/drawing/2014/main" id="{F218D2BE-92D3-1251-0751-119C87F2A6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ce85d903d_0_597:notes">
            <a:extLst>
              <a:ext uri="{FF2B5EF4-FFF2-40B4-BE49-F238E27FC236}">
                <a16:creationId xmlns:a16="http://schemas.microsoft.com/office/drawing/2014/main" id="{30DFFFC3-A881-F491-99C1-F65F162A57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61088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>
          <a:extLst>
            <a:ext uri="{FF2B5EF4-FFF2-40B4-BE49-F238E27FC236}">
              <a16:creationId xmlns:a16="http://schemas.microsoft.com/office/drawing/2014/main" id="{B423304C-75DF-E3C1-C72F-0BB1FE92B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ce85d903d_0_597:notes">
            <a:extLst>
              <a:ext uri="{FF2B5EF4-FFF2-40B4-BE49-F238E27FC236}">
                <a16:creationId xmlns:a16="http://schemas.microsoft.com/office/drawing/2014/main" id="{92D11491-238C-95B1-4513-4BBBB8D9C1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ce85d903d_0_597:notes">
            <a:extLst>
              <a:ext uri="{FF2B5EF4-FFF2-40B4-BE49-F238E27FC236}">
                <a16:creationId xmlns:a16="http://schemas.microsoft.com/office/drawing/2014/main" id="{6C215353-041B-5B02-AD24-1141AB3C91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49011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>
          <a:extLst>
            <a:ext uri="{FF2B5EF4-FFF2-40B4-BE49-F238E27FC236}">
              <a16:creationId xmlns:a16="http://schemas.microsoft.com/office/drawing/2014/main" id="{59007BC0-3721-BDCD-C122-1421974CF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3ce85d903d_0_717:notes">
            <a:extLst>
              <a:ext uri="{FF2B5EF4-FFF2-40B4-BE49-F238E27FC236}">
                <a16:creationId xmlns:a16="http://schemas.microsoft.com/office/drawing/2014/main" id="{B3C72B47-57CA-5EC8-AD59-77C3F78F0E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3ce85d903d_0_717:notes">
            <a:extLst>
              <a:ext uri="{FF2B5EF4-FFF2-40B4-BE49-F238E27FC236}">
                <a16:creationId xmlns:a16="http://schemas.microsoft.com/office/drawing/2014/main" id="{333A5FCF-CF6E-E5C5-A8CB-5BCF545656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67697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>
          <a:extLst>
            <a:ext uri="{FF2B5EF4-FFF2-40B4-BE49-F238E27FC236}">
              <a16:creationId xmlns:a16="http://schemas.microsoft.com/office/drawing/2014/main" id="{9CB10C78-5960-A453-A68D-FEAB4D36A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3ce85d903d_0_717:notes">
            <a:extLst>
              <a:ext uri="{FF2B5EF4-FFF2-40B4-BE49-F238E27FC236}">
                <a16:creationId xmlns:a16="http://schemas.microsoft.com/office/drawing/2014/main" id="{F264BC76-2717-E8D7-ADCF-2C50E9ACB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3ce85d903d_0_717:notes">
            <a:extLst>
              <a:ext uri="{FF2B5EF4-FFF2-40B4-BE49-F238E27FC236}">
                <a16:creationId xmlns:a16="http://schemas.microsoft.com/office/drawing/2014/main" id="{EDFF8561-2789-D1FC-4CB8-ACB4760DDA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50988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>
          <a:extLst>
            <a:ext uri="{FF2B5EF4-FFF2-40B4-BE49-F238E27FC236}">
              <a16:creationId xmlns:a16="http://schemas.microsoft.com/office/drawing/2014/main" id="{E341AC0F-E7E5-3992-F17D-FB22353D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3ce85d903d_0_717:notes">
            <a:extLst>
              <a:ext uri="{FF2B5EF4-FFF2-40B4-BE49-F238E27FC236}">
                <a16:creationId xmlns:a16="http://schemas.microsoft.com/office/drawing/2014/main" id="{A089DE90-F455-09B2-B113-D0B41ACB52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3ce85d903d_0_717:notes">
            <a:extLst>
              <a:ext uri="{FF2B5EF4-FFF2-40B4-BE49-F238E27FC236}">
                <a16:creationId xmlns:a16="http://schemas.microsoft.com/office/drawing/2014/main" id="{5ED4F121-4FCD-D4C6-2716-5D7255D86B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56950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>
          <a:extLst>
            <a:ext uri="{FF2B5EF4-FFF2-40B4-BE49-F238E27FC236}">
              <a16:creationId xmlns:a16="http://schemas.microsoft.com/office/drawing/2014/main" id="{5E35C5B4-1584-FDBF-5A1A-42F8F0A75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3ce85d903d_0_717:notes">
            <a:extLst>
              <a:ext uri="{FF2B5EF4-FFF2-40B4-BE49-F238E27FC236}">
                <a16:creationId xmlns:a16="http://schemas.microsoft.com/office/drawing/2014/main" id="{033B9EA0-CFD5-843A-43A7-0A762C881F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3ce85d903d_0_717:notes">
            <a:extLst>
              <a:ext uri="{FF2B5EF4-FFF2-40B4-BE49-F238E27FC236}">
                <a16:creationId xmlns:a16="http://schemas.microsoft.com/office/drawing/2014/main" id="{E41E3A5E-41C0-875E-074E-B3F541C22E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61681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 1">
  <p:cSld name="Слайд с кодом 2 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52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{B8046C42-8E38-47DE-A3F2-97989C4BC8BF}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{B8046C42-8E38-47DE-A3F2-97989C4BC8BF}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  <p:sldLayoutId id="2147483661" r:id="rId12"/>
    <p:sldLayoutId id="214748368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500360" y="390332"/>
            <a:ext cx="75843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0" i="0" dirty="0">
                <a:solidFill>
                  <a:srgbClr val="000000"/>
                </a:solidFill>
                <a:effectLst/>
                <a:latin typeface="Roboto" panose="020F0502020204030204" pitchFamily="2" charset="0"/>
              </a:rPr>
              <a:t>Проект по миграции с трёхуровневой модели сети на VXLAN EVPN с топологией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Roboto" panose="020F0502020204030204" pitchFamily="2" charset="0"/>
              </a:rPr>
              <a:t>Clos</a:t>
            </a:r>
            <a:endParaRPr sz="40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629700" y="4092808"/>
            <a:ext cx="3739738" cy="517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dirty="0">
                <a:solidFill>
                  <a:srgbClr val="525252"/>
                </a:solidFill>
                <a:effectLst/>
                <a:latin typeface="Roboto" panose="02000000000000000000" pitchFamily="2" charset="0"/>
              </a:rPr>
              <a:t>Дизайн сетей ЦОД</a:t>
            </a:r>
            <a:endParaRPr sz="24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Защита проекта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Тема: 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3">
            <a:alphaModFix/>
          </a:blip>
          <a:srcRect t="30931" b="13765"/>
          <a:stretch/>
        </p:blipFill>
        <p:spPr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Анвар Ибрагимов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1144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 Medium"/>
                <a:ea typeface="Roboto Medium"/>
                <a:cs typeface="Roboto Medium"/>
                <a:sym typeface="Roboto Medium"/>
              </a:rPr>
              <a:t>Руководитель сетевого администрирования компании </a:t>
            </a:r>
            <a:r>
              <a:rPr lang="en-US" sz="1300" dirty="0">
                <a:latin typeface="Roboto Medium"/>
                <a:ea typeface="Roboto Medium"/>
                <a:cs typeface="Roboto Medium"/>
                <a:sym typeface="Roboto Medium"/>
              </a:rPr>
              <a:t>Hybrid</a:t>
            </a: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.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20 лет работы в ИТ-сфере, 5 лет из них в сетевом администрировании.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5638592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боснование необходимости перехода на новую структуру сети и основной план реализации перехода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5638592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Основа новой сети: модель 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CLOS </a:t>
            </a: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VxLAN</a:t>
            </a: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Основные технологии: 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Multihoming, L3VNI, Multisite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5638592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Реализация различных технологий внутри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VxLAN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результаты их работы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4" y="3246225"/>
            <a:ext cx="5638592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Плюсы реализации модели 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CLOS </a:t>
            </a: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 основе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VxLAN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cxnSpLocks/>
            <a:stCxn id="172" idx="1"/>
            <a:endCxn id="173" idx="1"/>
          </p:cNvCxnSpPr>
          <p:nvPr/>
        </p:nvCxnSpPr>
        <p:spPr>
          <a:xfrm rot="10800000" flipV="1">
            <a:off x="1138125" y="1679402"/>
            <a:ext cx="12700" cy="580190"/>
          </a:xfrm>
          <a:prstGeom prst="bentConnector3">
            <a:avLst>
              <a:gd name="adj1" fmla="val 18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cxnSpLocks/>
            <a:stCxn id="173" idx="1"/>
            <a:endCxn id="174" idx="1"/>
          </p:cNvCxnSpPr>
          <p:nvPr/>
        </p:nvCxnSpPr>
        <p:spPr>
          <a:xfrm rot="10800000" flipV="1">
            <a:off x="1138125" y="2259592"/>
            <a:ext cx="12700" cy="580184"/>
          </a:xfrm>
          <a:prstGeom prst="bentConnector3">
            <a:avLst>
              <a:gd name="adj1" fmla="val 18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cxnSpLocks/>
            <a:stCxn id="174" idx="1"/>
            <a:endCxn id="175" idx="1"/>
          </p:cNvCxnSpPr>
          <p:nvPr/>
        </p:nvCxnSpPr>
        <p:spPr>
          <a:xfrm rot="10800000" flipV="1">
            <a:off x="1138125" y="2839775"/>
            <a:ext cx="1" cy="594549"/>
          </a:xfrm>
          <a:prstGeom prst="bentConnector3">
            <a:avLst>
              <a:gd name="adj1" fmla="val 228601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cxnSpLocks/>
            <a:stCxn id="175" idx="1"/>
            <a:endCxn id="180" idx="1"/>
          </p:cNvCxnSpPr>
          <p:nvPr/>
        </p:nvCxnSpPr>
        <p:spPr>
          <a:xfrm rot="10800000" flipH="1" flipV="1">
            <a:off x="1138124" y="3434325"/>
            <a:ext cx="12" cy="526650"/>
          </a:xfrm>
          <a:prstGeom prst="bentConnector3">
            <a:avLst>
              <a:gd name="adj1" fmla="val -19050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6" y="3772875"/>
            <a:ext cx="5638579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291ADC24-C090-57C9-BD8E-CFAA10043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8">
            <a:extLst>
              <a:ext uri="{FF2B5EF4-FFF2-40B4-BE49-F238E27FC236}">
                <a16:creationId xmlns:a16="http://schemas.microsoft.com/office/drawing/2014/main" id="{1A88DCA3-C0C4-0F27-A511-6447A2769A1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26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2" name="Google Shape;522;p68">
            <a:extLst>
              <a:ext uri="{FF2B5EF4-FFF2-40B4-BE49-F238E27FC236}">
                <a16:creationId xmlns:a16="http://schemas.microsoft.com/office/drawing/2014/main" id="{A6C37E9A-406A-A941-A8CB-12AF4E4BA49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6014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3" name="Google Shape;523;p68">
            <a:extLst>
              <a:ext uri="{FF2B5EF4-FFF2-40B4-BE49-F238E27FC236}">
                <a16:creationId xmlns:a16="http://schemas.microsoft.com/office/drawing/2014/main" id="{D794F9C7-6F91-0B87-58CE-10131BA97DB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6940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4" name="Google Shape;524;p68">
            <a:extLst>
              <a:ext uri="{FF2B5EF4-FFF2-40B4-BE49-F238E27FC236}">
                <a16:creationId xmlns:a16="http://schemas.microsoft.com/office/drawing/2014/main" id="{FFA0E878-6E2C-38F3-868C-87418023E508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7926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26" name="Google Shape;526;p68">
            <a:extLst>
              <a:ext uri="{FF2B5EF4-FFF2-40B4-BE49-F238E27FC236}">
                <a16:creationId xmlns:a16="http://schemas.microsoft.com/office/drawing/2014/main" id="{CD5DB052-6CD2-54BD-EA59-9E72D15FFF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" sz="3000" dirty="0"/>
              <a:t>Этапы построения новой модели </a:t>
            </a:r>
            <a:r>
              <a:rPr lang="ru-RU" sz="3000" dirty="0"/>
              <a:t>сети</a:t>
            </a:r>
            <a:br>
              <a:rPr lang="ru-RU" sz="3000" dirty="0"/>
            </a:br>
            <a:r>
              <a:rPr lang="ru-RU" sz="1600" b="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увеличение отказоустойчивости, пропускной способности конечных хостов, сервисное обслуживание, безопасность </a:t>
            </a:r>
            <a:br>
              <a:rPr lang="ru-RU" sz="3200" dirty="0">
                <a:latin typeface="Roboto Medium"/>
                <a:ea typeface="Roboto Medium"/>
                <a:cs typeface="Roboto Medium"/>
                <a:sym typeface="Roboto Medium"/>
              </a:rPr>
            </a:br>
            <a:endParaRPr dirty="0"/>
          </a:p>
        </p:txBody>
      </p:sp>
      <p:sp>
        <p:nvSpPr>
          <p:cNvPr id="527" name="Google Shape;527;p68">
            <a:extLst>
              <a:ext uri="{FF2B5EF4-FFF2-40B4-BE49-F238E27FC236}">
                <a16:creationId xmlns:a16="http://schemas.microsoft.com/office/drawing/2014/main" id="{07CA57A7-398B-D010-B82B-56D251724CFD}"/>
              </a:ext>
            </a:extLst>
          </p:cNvPr>
          <p:cNvSpPr txBox="1"/>
          <p:nvPr/>
        </p:nvSpPr>
        <p:spPr>
          <a:xfrm>
            <a:off x="7867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68">
            <a:extLst>
              <a:ext uri="{FF2B5EF4-FFF2-40B4-BE49-F238E27FC236}">
                <a16:creationId xmlns:a16="http://schemas.microsoft.com/office/drawing/2014/main" id="{13F8CC15-BB40-8787-9608-EE7209DC6161}"/>
              </a:ext>
            </a:extLst>
          </p:cNvPr>
          <p:cNvSpPr txBox="1"/>
          <p:nvPr/>
        </p:nvSpPr>
        <p:spPr>
          <a:xfrm>
            <a:off x="2436168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68">
            <a:extLst>
              <a:ext uri="{FF2B5EF4-FFF2-40B4-BE49-F238E27FC236}">
                <a16:creationId xmlns:a16="http://schemas.microsoft.com/office/drawing/2014/main" id="{F1AF04C7-6414-BF1B-C08F-F69B60030F03}"/>
              </a:ext>
            </a:extLst>
          </p:cNvPr>
          <p:cNvSpPr txBox="1"/>
          <p:nvPr/>
        </p:nvSpPr>
        <p:spPr>
          <a:xfrm>
            <a:off x="4057095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68">
            <a:extLst>
              <a:ext uri="{FF2B5EF4-FFF2-40B4-BE49-F238E27FC236}">
                <a16:creationId xmlns:a16="http://schemas.microsoft.com/office/drawing/2014/main" id="{0368C7E5-A2F3-452B-FA5A-551DAC3DD820}"/>
              </a:ext>
            </a:extLst>
          </p:cNvPr>
          <p:cNvSpPr txBox="1"/>
          <p:nvPr/>
        </p:nvSpPr>
        <p:spPr>
          <a:xfrm>
            <a:off x="57380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2" name="Google Shape;532;p68">
            <a:extLst>
              <a:ext uri="{FF2B5EF4-FFF2-40B4-BE49-F238E27FC236}">
                <a16:creationId xmlns:a16="http://schemas.microsoft.com/office/drawing/2014/main" id="{AE1444D2-5D99-F5AF-F1B9-D081192CE8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8552247"/>
              </p:ext>
            </p:extLst>
          </p:nvPr>
        </p:nvGraphicFramePr>
        <p:xfrm>
          <a:off x="496600" y="3116575"/>
          <a:ext cx="8275500" cy="1433864"/>
        </p:xfrm>
        <a:graphic>
          <a:graphicData uri="http://schemas.openxmlformats.org/drawingml/2006/table">
            <a:tbl>
              <a:tblPr>
                <a:noFill/>
                <a:tableStyleId>{B8046C42-8E38-47DE-A3F2-97989C4BC8BF}</a:tableStyleId>
              </a:tblPr>
              <a:tblGrid>
                <a:gridCol w="165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Рассмотреть модели коммутаторов которые поддерживают все необходимые технологии которые мы будем рассматривать в данной работе.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Проработать схему </a:t>
                      </a:r>
                      <a:r>
                        <a:rPr lang="ru-RU" sz="9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ip</a:t>
                      </a:r>
                      <a: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адресации, схему подключения L1, продумать разделение сети на </a:t>
                      </a:r>
                      <a:r>
                        <a:rPr lang="ru-RU" sz="9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vlan</a:t>
                      </a:r>
                      <a: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и </a:t>
                      </a:r>
                      <a:r>
                        <a:rPr lang="ru-RU" sz="9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  <a: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Подготовить подробное описания доступа из разных </a:t>
                      </a:r>
                      <a:r>
                        <a:rPr lang="ru-RU" sz="9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vlan</a:t>
                      </a:r>
                      <a: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и </a:t>
                      </a:r>
                      <a:r>
                        <a:rPr lang="ru-RU" sz="9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  <a: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</a:t>
                      </a:r>
                      <a:r>
                        <a:rPr lang="ru-RU" sz="9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маршртизация</a:t>
                      </a:r>
                      <a: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между дата-центрами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Проверка доступности хостов согласно документации. Проверка работы все технологий в фабриках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2298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Технологии для реализации проекта: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1919890480"/>
              </p:ext>
            </p:extLst>
          </p:nvPr>
        </p:nvGraphicFramePr>
        <p:xfrm>
          <a:off x="1141350" y="1190886"/>
          <a:ext cx="7239000" cy="3621890"/>
        </p:xfrm>
        <a:graphic>
          <a:graphicData uri="http://schemas.openxmlformats.org/drawingml/2006/table">
            <a:tbl>
              <a:tblPr>
                <a:noFill/>
                <a:tableStyleId>{B8046C42-8E38-47DE-A3F2-97989C4BC8BF}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L2VNI –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технология по факту первично встроенная в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VxLAN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По факту уже на этом этапе сеть начнет работать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Anycast Gateway –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L3VNI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которая уже позволяет разделить сеть на разные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vlan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и обеспечить маршрутизацию на уровне коммутаторов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EVPN route-type 5 –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позволит нам отделить продукты полностью друг от друга и предоставлять ограниченный доступ.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Multisite-Domain-EVPN –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необходим чтобы трафик ходил между разными фабриками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>
          <a:extLst>
            <a:ext uri="{FF2B5EF4-FFF2-40B4-BE49-F238E27FC236}">
              <a16:creationId xmlns:a16="http://schemas.microsoft.com/office/drawing/2014/main" id="{17239881-2353-3232-7460-257A4CD5C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>
            <a:extLst>
              <a:ext uri="{FF2B5EF4-FFF2-40B4-BE49-F238E27FC236}">
                <a16:creationId xmlns:a16="http://schemas.microsoft.com/office/drawing/2014/main" id="{32549840-C1D0-4466-1E9F-647F115020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L2VNI</a:t>
            </a:r>
            <a:r>
              <a:rPr lang="ru-RU" sz="3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dirty="0"/>
          </a:p>
        </p:txBody>
      </p:sp>
      <p:sp>
        <p:nvSpPr>
          <p:cNvPr id="461" name="Google Shape;461;p64">
            <a:extLst>
              <a:ext uri="{FF2B5EF4-FFF2-40B4-BE49-F238E27FC236}">
                <a16:creationId xmlns:a16="http://schemas.microsoft.com/office/drawing/2014/main" id="{C10F2E21-5814-E5A2-A997-7C24484A6130}"/>
              </a:ext>
            </a:extLst>
          </p:cNvPr>
          <p:cNvSpPr/>
          <p:nvPr/>
        </p:nvSpPr>
        <p:spPr>
          <a:xfrm>
            <a:off x="232674" y="2958353"/>
            <a:ext cx="8539426" cy="1856242"/>
          </a:xfrm>
          <a:prstGeom prst="roundRect">
            <a:avLst>
              <a:gd name="adj" fmla="val 1397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4">
            <a:extLst>
              <a:ext uri="{FF2B5EF4-FFF2-40B4-BE49-F238E27FC236}">
                <a16:creationId xmlns:a16="http://schemas.microsoft.com/office/drawing/2014/main" id="{443FD0CF-5B9B-875C-B382-E66A5D0D7238}"/>
              </a:ext>
            </a:extLst>
          </p:cNvPr>
          <p:cNvSpPr txBox="1"/>
          <p:nvPr/>
        </p:nvSpPr>
        <p:spPr>
          <a:xfrm>
            <a:off x="1057600" y="2872555"/>
            <a:ext cx="8310926" cy="194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leaf511#show </a:t>
            </a:r>
            <a:r>
              <a:rPr lang="en-US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bgp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summary 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BGP summary information for VRF default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Router identifier 10.255.5.11, local AS number 65511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Neighbor             AS Session State AFI/SAFI                AFI/SAFI State   NLRI </a:t>
            </a:r>
            <a:r>
              <a:rPr lang="en-US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Rcd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NLRI Acc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----------- ----------- ------------- ----------------------- -------------- ---------- ----------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10.254.15.1       65500 Established   IPv4 Unicast            Negotiated             13         13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10.254.16.1       65500 Established   IPv4 Unicast            Negotiated             13         13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10.255.5.1        65500 Established   L2VPN EVPN              Negotiated             79         79</a:t>
            </a:r>
          </a:p>
          <a:p>
            <a:pPr>
              <a:lnSpc>
                <a:spcPts val="1425"/>
              </a:lnSpc>
            </a:pP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10.255.5.2        65500 Established   L2VPN EVPN              Negotiated             79         79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3" name="Google Shape;463;p64">
            <a:extLst>
              <a:ext uri="{FF2B5EF4-FFF2-40B4-BE49-F238E27FC236}">
                <a16:creationId xmlns:a16="http://schemas.microsoft.com/office/drawing/2014/main" id="{95C281CC-B709-4125-DCE0-68B5963599F8}"/>
              </a:ext>
            </a:extLst>
          </p:cNvPr>
          <p:cNvSpPr txBox="1"/>
          <p:nvPr/>
        </p:nvSpPr>
        <p:spPr>
          <a:xfrm>
            <a:off x="526442" y="865266"/>
            <a:ext cx="8310926" cy="287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Для реализации данной технологии нам нужно создать </a:t>
            </a:r>
            <a:r>
              <a:rPr lang="en-US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VxLAN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между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Leaf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Spine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коммутаторами. Основные этапы: 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Ip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адресация между физическими интерфейсами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Создание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Lo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и присвоение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ip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адреса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Настройка 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BGP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между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Leaf-Spine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на основе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ip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адресов на физических интерфейсах. Тем самым получаем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Underlay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285750" indent="-285750">
              <a:lnSpc>
                <a:spcPct val="115000"/>
              </a:lnSpc>
              <a:buFontTx/>
              <a:buChar char="-"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Настройка 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BGP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между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Leaf-Spine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на основе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ip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адресов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Lo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интерфейсах. Тем самым получаем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Overlay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4">
            <a:extLst>
              <a:ext uri="{FF2B5EF4-FFF2-40B4-BE49-F238E27FC236}">
                <a16:creationId xmlns:a16="http://schemas.microsoft.com/office/drawing/2014/main" id="{179B4392-8248-F443-4458-BFFE26D057A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7482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>
          <a:extLst>
            <a:ext uri="{FF2B5EF4-FFF2-40B4-BE49-F238E27FC236}">
              <a16:creationId xmlns:a16="http://schemas.microsoft.com/office/drawing/2014/main" id="{FD18AE67-D791-F9C9-24AB-C205E297F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>
            <a:extLst>
              <a:ext uri="{FF2B5EF4-FFF2-40B4-BE49-F238E27FC236}">
                <a16:creationId xmlns:a16="http://schemas.microsoft.com/office/drawing/2014/main" id="{45C78617-9073-79FA-3E9E-0C88B0F38B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94" y="267960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L2VNI</a:t>
            </a:r>
            <a:r>
              <a:rPr lang="ru-RU" sz="3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dirty="0"/>
          </a:p>
        </p:txBody>
      </p:sp>
      <p:sp>
        <p:nvSpPr>
          <p:cNvPr id="461" name="Google Shape;461;p64">
            <a:extLst>
              <a:ext uri="{FF2B5EF4-FFF2-40B4-BE49-F238E27FC236}">
                <a16:creationId xmlns:a16="http://schemas.microsoft.com/office/drawing/2014/main" id="{521672E5-3331-8D29-80AA-C0AD3233AA93}"/>
              </a:ext>
            </a:extLst>
          </p:cNvPr>
          <p:cNvSpPr/>
          <p:nvPr/>
        </p:nvSpPr>
        <p:spPr>
          <a:xfrm>
            <a:off x="232674" y="2958353"/>
            <a:ext cx="8539426" cy="1856242"/>
          </a:xfrm>
          <a:prstGeom prst="roundRect">
            <a:avLst>
              <a:gd name="adj" fmla="val 1397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4">
            <a:extLst>
              <a:ext uri="{FF2B5EF4-FFF2-40B4-BE49-F238E27FC236}">
                <a16:creationId xmlns:a16="http://schemas.microsoft.com/office/drawing/2014/main" id="{33873274-E840-1326-F53A-AD95078BD1B3}"/>
              </a:ext>
            </a:extLst>
          </p:cNvPr>
          <p:cNvSpPr txBox="1"/>
          <p:nvPr/>
        </p:nvSpPr>
        <p:spPr>
          <a:xfrm>
            <a:off x="1017259" y="3076011"/>
            <a:ext cx="8310926" cy="1620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* &gt;</a:t>
            </a:r>
            <a:r>
              <a:rPr lang="en-US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Ec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RD: 10.255.5.18:25501 </a:t>
            </a:r>
            <a:r>
              <a:rPr lang="en-US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-prefix 192.168.0.68/32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                     10.255.5.18           -       100     0       65500 65518 65530 65530 65530 65530 </a:t>
            </a:r>
            <a:r>
              <a:rPr lang="en-US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endParaRPr lang="en-US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*  </a:t>
            </a:r>
            <a:r>
              <a:rPr lang="en-US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ec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RD: 10.255.5.18:25501 </a:t>
            </a:r>
            <a:r>
              <a:rPr lang="en-US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-prefix 192.168.0.68/32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                     10.255.5.18           -       100     0       65500 65518 65530 65530 65530 65530 </a:t>
            </a:r>
            <a:r>
              <a:rPr lang="en-US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endParaRPr lang="en-US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* &gt;      RD: 10.255.5.11:25502 </a:t>
            </a:r>
            <a:r>
              <a:rPr lang="en-US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-prefix 192.168.1.0/24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                     -                     -       -       0       </a:t>
            </a:r>
            <a:r>
              <a:rPr lang="en-US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endParaRPr lang="en-US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* &gt;</a:t>
            </a:r>
            <a:r>
              <a:rPr lang="en-US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Ec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RD: 10.255.5.12:25502 </a:t>
            </a:r>
            <a:r>
              <a:rPr lang="en-US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-prefix 192.168.1.0/24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                     10.255.5.12           -       100     0       65500 65512 </a:t>
            </a:r>
            <a:r>
              <a:rPr lang="en-US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endParaRPr sz="800" dirty="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3" name="Google Shape;463;p64">
            <a:extLst>
              <a:ext uri="{FF2B5EF4-FFF2-40B4-BE49-F238E27FC236}">
                <a16:creationId xmlns:a16="http://schemas.microsoft.com/office/drawing/2014/main" id="{C37DD427-2A8A-299B-070F-C22DEE683C71}"/>
              </a:ext>
            </a:extLst>
          </p:cNvPr>
          <p:cNvSpPr txBox="1"/>
          <p:nvPr/>
        </p:nvSpPr>
        <p:spPr>
          <a:xfrm>
            <a:off x="526442" y="865266"/>
            <a:ext cx="8310926" cy="2629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Теперь на основе созданного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Overlay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мы можем настроить сам </a:t>
            </a:r>
            <a:r>
              <a:rPr lang="en-US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VxLAN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Создаем интерфейс </a:t>
            </a:r>
            <a:r>
              <a:rPr lang="en-US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VxLAN</a:t>
            </a:r>
            <a:endParaRPr lang="ru-RU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Добавляем в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router </a:t>
            </a:r>
            <a:r>
              <a:rPr lang="en-US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bgp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65***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разделы: </a:t>
            </a:r>
            <a:r>
              <a:rPr lang="en-US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vlan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-aware-bundle </a:t>
            </a:r>
            <a:r>
              <a:rPr lang="en-US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lan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Тем самым мы управляем сразу группой </a:t>
            </a:r>
            <a:r>
              <a:rPr lang="en-US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vlan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для </a:t>
            </a:r>
            <a:r>
              <a:rPr lang="ru-RU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бриджинга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через </a:t>
            </a:r>
            <a:r>
              <a:rPr lang="en-US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evpn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285750" indent="-285750">
              <a:lnSpc>
                <a:spcPct val="115000"/>
              </a:lnSpc>
              <a:buFontTx/>
              <a:buChar char="-"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Добавляем в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router </a:t>
            </a:r>
            <a:r>
              <a:rPr lang="en-US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bgp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65***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разделы: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address-family </a:t>
            </a:r>
            <a:r>
              <a:rPr lang="en-US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evpn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Указываем через какую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peer group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мы будем распространять маршрутную информацию.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Включаем поддержку  в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BGP ipv4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4">
            <a:extLst>
              <a:ext uri="{FF2B5EF4-FFF2-40B4-BE49-F238E27FC236}">
                <a16:creationId xmlns:a16="http://schemas.microsoft.com/office/drawing/2014/main" id="{4137E03A-0ECB-415C-B1D6-11B77DAF49A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6199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>
          <a:extLst>
            <a:ext uri="{FF2B5EF4-FFF2-40B4-BE49-F238E27FC236}">
              <a16:creationId xmlns:a16="http://schemas.microsoft.com/office/drawing/2014/main" id="{CDA90E48-EC59-1480-6F02-238D56D81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>
            <a:extLst>
              <a:ext uri="{FF2B5EF4-FFF2-40B4-BE49-F238E27FC236}">
                <a16:creationId xmlns:a16="http://schemas.microsoft.com/office/drawing/2014/main" id="{258347BE-92E0-44F0-BEB2-F54FD6234C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Anycast Gateway</a:t>
            </a:r>
            <a:r>
              <a:rPr lang="ru-RU" sz="3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dirty="0"/>
          </a:p>
        </p:txBody>
      </p:sp>
      <p:sp>
        <p:nvSpPr>
          <p:cNvPr id="461" name="Google Shape;461;p64">
            <a:extLst>
              <a:ext uri="{FF2B5EF4-FFF2-40B4-BE49-F238E27FC236}">
                <a16:creationId xmlns:a16="http://schemas.microsoft.com/office/drawing/2014/main" id="{6D0054A1-F79C-5DEC-C457-60DC96A61A11}"/>
              </a:ext>
            </a:extLst>
          </p:cNvPr>
          <p:cNvSpPr/>
          <p:nvPr/>
        </p:nvSpPr>
        <p:spPr>
          <a:xfrm>
            <a:off x="232674" y="2958353"/>
            <a:ext cx="8539426" cy="1856242"/>
          </a:xfrm>
          <a:prstGeom prst="roundRect">
            <a:avLst>
              <a:gd name="adj" fmla="val 1397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4">
            <a:extLst>
              <a:ext uri="{FF2B5EF4-FFF2-40B4-BE49-F238E27FC236}">
                <a16:creationId xmlns:a16="http://schemas.microsoft.com/office/drawing/2014/main" id="{6555EEC0-5F21-78DF-4F14-9699C4EB0671}"/>
              </a:ext>
            </a:extLst>
          </p:cNvPr>
          <p:cNvSpPr txBox="1"/>
          <p:nvPr/>
        </p:nvSpPr>
        <p:spPr>
          <a:xfrm>
            <a:off x="600400" y="2986242"/>
            <a:ext cx="8310926" cy="180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interface Vlan2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vrf anycast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ip address virtual 192.168.1.1/24</a:t>
            </a:r>
            <a:endParaRPr lang="ru-RU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interface Vlan3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vrf anycast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ip address virtual 192.168.0.1/24</a:t>
            </a:r>
          </a:p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 virtual-router mac-address 00:00:00:00:00:01</a:t>
            </a:r>
            <a:endParaRPr lang="ru-RU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 routing vrf anycast</a:t>
            </a:r>
          </a:p>
          <a:p>
            <a:pPr>
              <a:lnSpc>
                <a:spcPts val="1425"/>
              </a:lnSpc>
            </a:pP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63" name="Google Shape;463;p64">
            <a:extLst>
              <a:ext uri="{FF2B5EF4-FFF2-40B4-BE49-F238E27FC236}">
                <a16:creationId xmlns:a16="http://schemas.microsoft.com/office/drawing/2014/main" id="{CEC634A2-AE11-5F04-E295-8E310DEA7A4B}"/>
              </a:ext>
            </a:extLst>
          </p:cNvPr>
          <p:cNvSpPr txBox="1"/>
          <p:nvPr/>
        </p:nvSpPr>
        <p:spPr>
          <a:xfrm>
            <a:off x="526442" y="865266"/>
            <a:ext cx="8310926" cy="2629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Теперь у нас в фабрике работает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L2VNI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Но для работы конечно же этого мало, пойдем в сторону увеличения количества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VLAN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возможностью маршрутизации между ними за счет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anycast gateway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Этапы реализации: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Добавляем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VLAN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 отдельным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VNI</a:t>
            </a:r>
            <a:endParaRPr lang="ru-RU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Создаем общий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vrf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для данных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VLAN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добавляем его к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VLAN</a:t>
            </a:r>
            <a:endParaRPr lang="ru-RU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Создаем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L3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интерфейсы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VLAN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путем добавления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ip address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virtual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ip virtual-router mac-address</a:t>
            </a:r>
            <a:endParaRPr lang="ru-RU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4">
            <a:extLst>
              <a:ext uri="{FF2B5EF4-FFF2-40B4-BE49-F238E27FC236}">
                <a16:creationId xmlns:a16="http://schemas.microsoft.com/office/drawing/2014/main" id="{2C542B83-BFD7-83F5-F0D2-58D8C9C0CA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5262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>
          <a:extLst>
            <a:ext uri="{FF2B5EF4-FFF2-40B4-BE49-F238E27FC236}">
              <a16:creationId xmlns:a16="http://schemas.microsoft.com/office/drawing/2014/main" id="{7BED214E-F53F-8547-E34A-385FDC6E6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>
            <a:extLst>
              <a:ext uri="{FF2B5EF4-FFF2-40B4-BE49-F238E27FC236}">
                <a16:creationId xmlns:a16="http://schemas.microsoft.com/office/drawing/2014/main" id="{68314D95-DDFC-72FA-A3EB-7D78645173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EVPN route-type 5 </a:t>
            </a:r>
            <a:endParaRPr dirty="0"/>
          </a:p>
        </p:txBody>
      </p:sp>
      <p:sp>
        <p:nvSpPr>
          <p:cNvPr id="461" name="Google Shape;461;p64">
            <a:extLst>
              <a:ext uri="{FF2B5EF4-FFF2-40B4-BE49-F238E27FC236}">
                <a16:creationId xmlns:a16="http://schemas.microsoft.com/office/drawing/2014/main" id="{09507F66-EA6E-A93B-7F4F-C78395CE5967}"/>
              </a:ext>
            </a:extLst>
          </p:cNvPr>
          <p:cNvSpPr/>
          <p:nvPr/>
        </p:nvSpPr>
        <p:spPr>
          <a:xfrm>
            <a:off x="232674" y="2958353"/>
            <a:ext cx="8539426" cy="1856242"/>
          </a:xfrm>
          <a:prstGeom prst="roundRect">
            <a:avLst>
              <a:gd name="adj" fmla="val 1397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4">
            <a:extLst>
              <a:ext uri="{FF2B5EF4-FFF2-40B4-BE49-F238E27FC236}">
                <a16:creationId xmlns:a16="http://schemas.microsoft.com/office/drawing/2014/main" id="{7E0B3F6B-FC91-D417-18A5-DD3CE6847334}"/>
              </a:ext>
            </a:extLst>
          </p:cNvPr>
          <p:cNvSpPr txBox="1"/>
          <p:nvPr/>
        </p:nvSpPr>
        <p:spPr>
          <a:xfrm>
            <a:off x="600400" y="2896474"/>
            <a:ext cx="2700853" cy="197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Leaf518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interface Ethernet11.200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encapsulation dot1q 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vlan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200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vrf servers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ip address 10.250.50.2/29</a:t>
            </a:r>
          </a:p>
          <a:p>
            <a:pPr>
              <a:lnSpc>
                <a:spcPts val="1425"/>
              </a:lnSpc>
              <a:buNone/>
            </a:pP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interface Ethernet11.300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encapsulation dot1q 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vlan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300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vrf anycast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ip address 10.250.60.2/29</a:t>
            </a:r>
          </a:p>
        </p:txBody>
      </p:sp>
      <p:sp>
        <p:nvSpPr>
          <p:cNvPr id="463" name="Google Shape;463;p64">
            <a:extLst>
              <a:ext uri="{FF2B5EF4-FFF2-40B4-BE49-F238E27FC236}">
                <a16:creationId xmlns:a16="http://schemas.microsoft.com/office/drawing/2014/main" id="{E9400D8A-89E8-E2E8-37F1-2B92C6E5FB65}"/>
              </a:ext>
            </a:extLst>
          </p:cNvPr>
          <p:cNvSpPr txBox="1"/>
          <p:nvPr/>
        </p:nvSpPr>
        <p:spPr>
          <a:xfrm>
            <a:off x="526442" y="865266"/>
            <a:ext cx="8310926" cy="238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Для реализации данной технологии необходимо со стороны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Leaf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добавить дополнительный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vrf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добавить его в отдельный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VLAN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Далее определяемся к какому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Leaf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фабрике мы подключим маршрутизирующее устройство. Для реализации данной схемы нам необходимо создать для каждого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vrf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отдельный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VLAN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который не будет относится к фабрике. После настройки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VLAN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между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LEAF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router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, назначаем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ip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адресацию. На основе данной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ip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адресации поднимаем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BGP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4">
            <a:extLst>
              <a:ext uri="{FF2B5EF4-FFF2-40B4-BE49-F238E27FC236}">
                <a16:creationId xmlns:a16="http://schemas.microsoft.com/office/drawing/2014/main" id="{0E693373-24A9-050E-0441-BB42165670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62;p64">
            <a:extLst>
              <a:ext uri="{FF2B5EF4-FFF2-40B4-BE49-F238E27FC236}">
                <a16:creationId xmlns:a16="http://schemas.microsoft.com/office/drawing/2014/main" id="{5808F46C-A679-6A32-3E97-4D5D3A5F4FDD}"/>
              </a:ext>
            </a:extLst>
          </p:cNvPr>
          <p:cNvSpPr txBox="1"/>
          <p:nvPr/>
        </p:nvSpPr>
        <p:spPr>
          <a:xfrm>
            <a:off x="4572000" y="3004342"/>
            <a:ext cx="3350869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R1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vlan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200,300</a:t>
            </a:r>
          </a:p>
          <a:p>
            <a:pPr>
              <a:lnSpc>
                <a:spcPts val="1425"/>
              </a:lnSpc>
              <a:buNone/>
            </a:pP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interface Ethernet1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switchport trunk allowed 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vlan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200,300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switchport mode trunk</a:t>
            </a:r>
          </a:p>
        </p:txBody>
      </p:sp>
    </p:spTree>
    <p:extLst>
      <p:ext uri="{BB962C8B-B14F-4D97-AF65-F5344CB8AC3E}">
        <p14:creationId xmlns:p14="http://schemas.microsoft.com/office/powerpoint/2010/main" val="4184751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>
          <a:extLst>
            <a:ext uri="{FF2B5EF4-FFF2-40B4-BE49-F238E27FC236}">
              <a16:creationId xmlns:a16="http://schemas.microsoft.com/office/drawing/2014/main" id="{962A5F6A-C5C1-1A89-F0E7-32D9CD898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>
            <a:extLst>
              <a:ext uri="{FF2B5EF4-FFF2-40B4-BE49-F238E27FC236}">
                <a16:creationId xmlns:a16="http://schemas.microsoft.com/office/drawing/2014/main" id="{D3ADD37B-AC26-862F-1D4D-5AA88964A3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EVPN route-type 5 </a:t>
            </a:r>
            <a:endParaRPr dirty="0"/>
          </a:p>
        </p:txBody>
      </p:sp>
      <p:sp>
        <p:nvSpPr>
          <p:cNvPr id="461" name="Google Shape;461;p64">
            <a:extLst>
              <a:ext uri="{FF2B5EF4-FFF2-40B4-BE49-F238E27FC236}">
                <a16:creationId xmlns:a16="http://schemas.microsoft.com/office/drawing/2014/main" id="{E664D093-4EC5-167C-E5B3-9CCCB5C722BF}"/>
              </a:ext>
            </a:extLst>
          </p:cNvPr>
          <p:cNvSpPr/>
          <p:nvPr/>
        </p:nvSpPr>
        <p:spPr>
          <a:xfrm>
            <a:off x="232674" y="1961165"/>
            <a:ext cx="8539426" cy="2837303"/>
          </a:xfrm>
          <a:prstGeom prst="roundRect">
            <a:avLst>
              <a:gd name="adj" fmla="val 1397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4">
            <a:extLst>
              <a:ext uri="{FF2B5EF4-FFF2-40B4-BE49-F238E27FC236}">
                <a16:creationId xmlns:a16="http://schemas.microsoft.com/office/drawing/2014/main" id="{4FF40128-1750-9DB7-78D5-2740C2753A12}"/>
              </a:ext>
            </a:extLst>
          </p:cNvPr>
          <p:cNvSpPr txBox="1"/>
          <p:nvPr/>
        </p:nvSpPr>
        <p:spPr>
          <a:xfrm>
            <a:off x="456829" y="1961165"/>
            <a:ext cx="8384884" cy="2698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Leaf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vrf anycast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10.255.5.18:25502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route-target import 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evpn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65500:25502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route-target export 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evpn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65500:25502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neighbor 10.250.60.1 remote-as 65530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neighbor 10.250.60.1 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allowas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-in 10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redistribute connected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redistribute attached-host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address-family ipv4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neighbor 10.250.60.1 activate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network 192.168.0.0/24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network 192.168.1.0/24</a:t>
            </a:r>
          </a:p>
        </p:txBody>
      </p:sp>
      <p:sp>
        <p:nvSpPr>
          <p:cNvPr id="463" name="Google Shape;463;p64">
            <a:extLst>
              <a:ext uri="{FF2B5EF4-FFF2-40B4-BE49-F238E27FC236}">
                <a16:creationId xmlns:a16="http://schemas.microsoft.com/office/drawing/2014/main" id="{14CABA4F-E854-7374-EC0D-87310CD4750B}"/>
              </a:ext>
            </a:extLst>
          </p:cNvPr>
          <p:cNvSpPr txBox="1"/>
          <p:nvPr/>
        </p:nvSpPr>
        <p:spPr>
          <a:xfrm>
            <a:off x="526442" y="865266"/>
            <a:ext cx="8310926" cy="139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Далее поднимаем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BGP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соседство между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Leaf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для обмена маршрутной информацией из разных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4">
            <a:extLst>
              <a:ext uri="{FF2B5EF4-FFF2-40B4-BE49-F238E27FC236}">
                <a16:creationId xmlns:a16="http://schemas.microsoft.com/office/drawing/2014/main" id="{74347531-73B5-38F0-F3E7-285FD2FED15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62;p64">
            <a:extLst>
              <a:ext uri="{FF2B5EF4-FFF2-40B4-BE49-F238E27FC236}">
                <a16:creationId xmlns:a16="http://schemas.microsoft.com/office/drawing/2014/main" id="{B57CE639-5D8C-98E0-7549-DAE53FC4FD9F}"/>
              </a:ext>
            </a:extLst>
          </p:cNvPr>
          <p:cNvSpPr txBox="1"/>
          <p:nvPr/>
        </p:nvSpPr>
        <p:spPr>
          <a:xfrm>
            <a:off x="4502387" y="1871397"/>
            <a:ext cx="3781001" cy="287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R1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 as-path access-list allow-any permit .* any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route-map allow-loop permit 10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match as-path allow-any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router 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bgp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65530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router-id 10.250.50.1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neighbor 10.250.50.2 remote-as 65518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neighbor 10.250.50.2 remove-private-as all replace-as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neighbor 10.250.50.2 route-map allow-loop out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neighbor 10.250.60.2 remote-as 65518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neighbor 10.250.60.2 remove-private-as all replace-as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neighbor 10.250.60.2 route-map allow-loop out</a:t>
            </a:r>
          </a:p>
          <a:p>
            <a:pPr>
              <a:lnSpc>
                <a:spcPts val="1425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network 1.1.1.1/32</a:t>
            </a:r>
          </a:p>
        </p:txBody>
      </p:sp>
    </p:spTree>
    <p:extLst>
      <p:ext uri="{BB962C8B-B14F-4D97-AF65-F5344CB8AC3E}">
        <p14:creationId xmlns:p14="http://schemas.microsoft.com/office/powerpoint/2010/main" val="1918958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>
          <a:extLst>
            <a:ext uri="{FF2B5EF4-FFF2-40B4-BE49-F238E27FC236}">
              <a16:creationId xmlns:a16="http://schemas.microsoft.com/office/drawing/2014/main" id="{E990C865-3A64-A8C1-1D7B-8F737D531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>
            <a:extLst>
              <a:ext uri="{FF2B5EF4-FFF2-40B4-BE49-F238E27FC236}">
                <a16:creationId xmlns:a16="http://schemas.microsoft.com/office/drawing/2014/main" id="{AF7437FF-3D5B-5311-D324-D2EBC5CE82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Multisite-Domain-EVPN</a:t>
            </a:r>
            <a:endParaRPr dirty="0"/>
          </a:p>
        </p:txBody>
      </p:sp>
      <p:sp>
        <p:nvSpPr>
          <p:cNvPr id="461" name="Google Shape;461;p64">
            <a:extLst>
              <a:ext uri="{FF2B5EF4-FFF2-40B4-BE49-F238E27FC236}">
                <a16:creationId xmlns:a16="http://schemas.microsoft.com/office/drawing/2014/main" id="{689DAE74-B5B9-1D98-1651-A9A765E3ECEB}"/>
              </a:ext>
            </a:extLst>
          </p:cNvPr>
          <p:cNvSpPr/>
          <p:nvPr/>
        </p:nvSpPr>
        <p:spPr>
          <a:xfrm>
            <a:off x="232674" y="2416309"/>
            <a:ext cx="8539426" cy="2382159"/>
          </a:xfrm>
          <a:prstGeom prst="roundRect">
            <a:avLst>
              <a:gd name="adj" fmla="val 1397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4">
            <a:extLst>
              <a:ext uri="{FF2B5EF4-FFF2-40B4-BE49-F238E27FC236}">
                <a16:creationId xmlns:a16="http://schemas.microsoft.com/office/drawing/2014/main" id="{361EEC2E-4BD5-3D68-067D-E2FB97922E1C}"/>
              </a:ext>
            </a:extLst>
          </p:cNvPr>
          <p:cNvSpPr txBox="1"/>
          <p:nvPr/>
        </p:nvSpPr>
        <p:spPr>
          <a:xfrm>
            <a:off x="452484" y="2571750"/>
            <a:ext cx="8384884" cy="2518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address-family 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evpn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neighbor DCI-OVERLAY activate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neighbor DCI-OVERLAY domain remote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neighbor SPINE-OVERLAY activate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neighbor default next-hop-self received-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evpn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-routes route-type #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ip-prefix inter-domain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address-family ipv4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neighbor DCI-UNDERLAY activate   #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neighbor UNDERLAY activate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network 10.255.5.23/32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ts val="1425"/>
              </a:lnSpc>
              <a:buNone/>
            </a:pP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63" name="Google Shape;463;p64">
            <a:extLst>
              <a:ext uri="{FF2B5EF4-FFF2-40B4-BE49-F238E27FC236}">
                <a16:creationId xmlns:a16="http://schemas.microsoft.com/office/drawing/2014/main" id="{8DEC79DA-7E29-88FF-AAB3-71BE7B35551B}"/>
              </a:ext>
            </a:extLst>
          </p:cNvPr>
          <p:cNvSpPr txBox="1"/>
          <p:nvPr/>
        </p:nvSpPr>
        <p:spPr>
          <a:xfrm>
            <a:off x="526442" y="865266"/>
            <a:ext cx="8310926" cy="238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Одни из основных технологий нашей фабрики настроены. Одна из приоритетных задач это доступность других фабрик дата-центров. Для реализации данной схемы нам потребуется коммутатор с ролью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GW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(в рамках данного проекта, в реальных условиях это может быть маршрутизатор или коммутатор поддерживающий данную технологию). Настройки схожи с конфигурацией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Leaf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, мы добавим к ним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BGP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пиринг между таким же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GW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другой фабрике с указанием откуда производить импорт маршрутов. Основные отличия приведены ниже: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4">
            <a:extLst>
              <a:ext uri="{FF2B5EF4-FFF2-40B4-BE49-F238E27FC236}">
                <a16:creationId xmlns:a16="http://schemas.microsoft.com/office/drawing/2014/main" id="{0914B290-2BC7-08F5-21E8-7331A1F2A9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2375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>
          <a:extLst>
            <a:ext uri="{FF2B5EF4-FFF2-40B4-BE49-F238E27FC236}">
              <a16:creationId xmlns:a16="http://schemas.microsoft.com/office/drawing/2014/main" id="{EA4E5346-465E-7851-320C-C81B3F6D5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>
            <a:extLst>
              <a:ext uri="{FF2B5EF4-FFF2-40B4-BE49-F238E27FC236}">
                <a16:creationId xmlns:a16="http://schemas.microsoft.com/office/drawing/2014/main" id="{174DEB7C-7797-0091-6B70-91EF994612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Конфигурация </a:t>
            </a:r>
            <a:r>
              <a:rPr lang="en-US" dirty="0"/>
              <a:t>GW</a:t>
            </a:r>
            <a:endParaRPr dirty="0"/>
          </a:p>
        </p:txBody>
      </p:sp>
      <p:sp>
        <p:nvSpPr>
          <p:cNvPr id="590" name="Google Shape;590;p73">
            <a:extLst>
              <a:ext uri="{FF2B5EF4-FFF2-40B4-BE49-F238E27FC236}">
                <a16:creationId xmlns:a16="http://schemas.microsoft.com/office/drawing/2014/main" id="{2D37B68C-F45A-CDA7-A208-D6700DA76B6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54725" y="1516450"/>
            <a:ext cx="8181900" cy="32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address-family </a:t>
            </a:r>
            <a:r>
              <a:rPr lang="en-US" dirty="0" err="1"/>
              <a:t>evpn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      neighbor DCI-OVERLAY activate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      neighbor DCI-OVERLAY domain remote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      neighbor SPINE-OVERLAY activate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      neighbor default next-hop-self received-</a:t>
            </a:r>
            <a:r>
              <a:rPr lang="en-US" dirty="0" err="1"/>
              <a:t>evpn</a:t>
            </a:r>
            <a:r>
              <a:rPr lang="en-US" dirty="0"/>
              <a:t>-routes route-type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      ip-prefix inter-domain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   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   address-family ipv4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      neighbor DCI-UNDERLAY activate   # </a:t>
            </a:r>
            <a:r>
              <a:rPr lang="ru-RU" dirty="0"/>
              <a:t>включаем </a:t>
            </a:r>
            <a:r>
              <a:rPr lang="en-US" dirty="0"/>
              <a:t>ipv4 </a:t>
            </a:r>
            <a:r>
              <a:rPr lang="ru-RU" dirty="0"/>
              <a:t>на </a:t>
            </a:r>
            <a:r>
              <a:rPr lang="en-US" dirty="0"/>
              <a:t>Underlay </a:t>
            </a:r>
            <a:r>
              <a:rPr lang="ru-RU" dirty="0"/>
              <a:t>между </a:t>
            </a:r>
            <a:r>
              <a:rPr lang="en-US" dirty="0"/>
              <a:t>GW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      neighbor UNDERLAY activate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      network 10.255.5.23/32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   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vrf anycast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      </a:t>
            </a:r>
            <a:r>
              <a:rPr lang="en-US" dirty="0" err="1"/>
              <a:t>rd</a:t>
            </a:r>
            <a:r>
              <a:rPr lang="en-US" dirty="0"/>
              <a:t> 10.255.5.23:25502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      route-target import </a:t>
            </a:r>
            <a:r>
              <a:rPr lang="en-US" dirty="0" err="1"/>
              <a:t>evpn</a:t>
            </a:r>
            <a:r>
              <a:rPr lang="en-US" dirty="0"/>
              <a:t> 65400:25604   # </a:t>
            </a:r>
            <a:r>
              <a:rPr lang="ru-RU" dirty="0"/>
              <a:t>указываем откуда принимать маршруты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      route-target import </a:t>
            </a:r>
            <a:r>
              <a:rPr lang="en-US" dirty="0" err="1"/>
              <a:t>evpn</a:t>
            </a:r>
            <a:r>
              <a:rPr lang="en-US" dirty="0"/>
              <a:t> 65500:25502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      route-target export </a:t>
            </a:r>
            <a:r>
              <a:rPr lang="en-US" dirty="0" err="1"/>
              <a:t>evpn</a:t>
            </a:r>
            <a:r>
              <a:rPr lang="en-US" dirty="0"/>
              <a:t> 65500:25502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      redistribute connected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0846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>
          <a:extLst>
            <a:ext uri="{FF2B5EF4-FFF2-40B4-BE49-F238E27FC236}">
              <a16:creationId xmlns:a16="http://schemas.microsoft.com/office/drawing/2014/main" id="{22A4FB09-2D59-4693-02CD-224820BBD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>
            <a:extLst>
              <a:ext uri="{FF2B5EF4-FFF2-40B4-BE49-F238E27FC236}">
                <a16:creationId xmlns:a16="http://schemas.microsoft.com/office/drawing/2014/main" id="{D2086B58-97BD-6AB1-EDDF-0EB0914FEE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Маршруты </a:t>
            </a:r>
            <a:r>
              <a:rPr lang="en-US" sz="1800" dirty="0"/>
              <a:t>Leaf</a:t>
            </a:r>
            <a:endParaRPr sz="1800" dirty="0"/>
          </a:p>
        </p:txBody>
      </p:sp>
      <p:sp>
        <p:nvSpPr>
          <p:cNvPr id="590" name="Google Shape;590;p73">
            <a:extLst>
              <a:ext uri="{FF2B5EF4-FFF2-40B4-BE49-F238E27FC236}">
                <a16:creationId xmlns:a16="http://schemas.microsoft.com/office/drawing/2014/main" id="{5CD139F5-02E8-A443-2E30-CE0F671E293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54725" y="1516450"/>
            <a:ext cx="8181900" cy="32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leaf511#show ip route vrf anycast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Gateway of last resort is not set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B E      1.1.1.1/32 [200/0]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via VTEP 10.255.5.18 VNI 2550002 router-mac 50:00:00:23:58:17 local-interface Vxlan1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B E      10.5.0.49/32 [200/0]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via VTEP 10.255.5.18 VNI 2550002 router-mac 50:00:00:23:58:17 local-interface Vxlan1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B E      10.5.0.0/24 [200/0]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via VTEP 10.255.5.18 VNI 2550002 router-mac 50:00:00:23:58:17 local-interface Vxlan1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B E      10.250.60.0/29 [200/0]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via VTEP 10.255.5.18 VNI 2550002 router-mac 50:00:00:23:58:17 local-interface Vxlan1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via VTEP 10.255.5.19 VNI 2550002 router-mac 50:00:00:29:5c:f6 local-interface Vxlan1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B E      10.255.5.16/32 [200/0]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via VTEP 10.255.5.18 VNI 2550002 router-mac 50:00:00:23:58:17 local-interface Vxlan1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B E      10.255.5.18/32 [200/0]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via VTEP 10.255.5.18 VNI 2550002 router-mac 50:00:00:23:58:17 local-interface Vxlan1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B E      10.255.5.19/32 [200/0]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via VTEP 10.255.5.18 VNI 2550002 router-mac 50:00:00:23:58:17 local-interface Vxlan1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B E      10.255.50.23/32 [200/0]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via VTEP 10.255.5.23 VNI 2550002 router-mac 50:00:00:dd:50:97 local-interface Vxlan1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B E      10.255.60.23/32 [200/0]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via VTEP 10.255.5.18 VNI 2550002 router-mac 50:00:00:23:58:17 local-interface Vxlan1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C        192.168.0.0/24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directly connected, Vlan3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B E      192.168.1.69/32 [200/0]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via VTEP 10.255.5.13 VNI 2550002 router-mac 50:00:00:9d:e9:64 local-interface Vxlan1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via VTEP 10.255.5.12 VNI 2550002 router-mac 50:00:00:ca:26:23 local-interface Vxlan1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C        192.168.1.0/24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directly connected, Vlan2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B E      192.168.10.0/24 [200/0]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via VTEP 10.255.5.23 VNI 2550002 router-mac 50:00:00:dd:50:97 local-interface Vxlan1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2517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>
          <a:extLst>
            <a:ext uri="{FF2B5EF4-FFF2-40B4-BE49-F238E27FC236}">
              <a16:creationId xmlns:a16="http://schemas.microsoft.com/office/drawing/2014/main" id="{B8BDE388-C8D9-0BD8-ADBA-89F94E1BC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>
            <a:extLst>
              <a:ext uri="{FF2B5EF4-FFF2-40B4-BE49-F238E27FC236}">
                <a16:creationId xmlns:a16="http://schemas.microsoft.com/office/drawing/2014/main" id="{4815DA76-8A47-04DD-A66F-001EE90D1D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Маршруты которые </a:t>
            </a:r>
            <a:r>
              <a:rPr lang="en-US" sz="1800" dirty="0"/>
              <a:t>GW1 </a:t>
            </a:r>
            <a:r>
              <a:rPr lang="ru-RU" sz="1800" dirty="0"/>
              <a:t>передает </a:t>
            </a:r>
            <a:r>
              <a:rPr lang="en-US" sz="1800" dirty="0"/>
              <a:t>Spine</a:t>
            </a:r>
            <a:endParaRPr sz="1800" dirty="0"/>
          </a:p>
        </p:txBody>
      </p:sp>
      <p:sp>
        <p:nvSpPr>
          <p:cNvPr id="590" name="Google Shape;590;p73">
            <a:extLst>
              <a:ext uri="{FF2B5EF4-FFF2-40B4-BE49-F238E27FC236}">
                <a16:creationId xmlns:a16="http://schemas.microsoft.com/office/drawing/2014/main" id="{F648BCDC-6C9D-9177-CEAA-E6C255A8DF1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54725" y="1516450"/>
            <a:ext cx="8181900" cy="32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GW1#show </a:t>
            </a:r>
            <a:r>
              <a:rPr lang="en-US" dirty="0" err="1"/>
              <a:t>bgp</a:t>
            </a:r>
            <a:r>
              <a:rPr lang="en-US" dirty="0"/>
              <a:t> neighbors 10.255.5.1 </a:t>
            </a:r>
            <a:r>
              <a:rPr lang="en-US" dirty="0" err="1"/>
              <a:t>evpn</a:t>
            </a:r>
            <a:r>
              <a:rPr lang="en-US" dirty="0"/>
              <a:t> advertised-routes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BGP routing table information for VRF default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Router identifier 10.255.5.23, local AS number 65523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Route status codes: * - valid, &gt; - active, S - Stale, E - ECMP head, e - ECMP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         c - Contributing to ECMP, % - Pending best path selection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         q - Queued for advertisement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Origin codes: </a:t>
            </a:r>
            <a:r>
              <a:rPr lang="en-US" dirty="0" err="1"/>
              <a:t>i</a:t>
            </a:r>
            <a:r>
              <a:rPr lang="en-US" dirty="0"/>
              <a:t> - IGP, e - EGP, ? - incomplete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AS Path Attributes: Or-ID - Originator ID, C-LST - Cluster List, LL </a:t>
            </a:r>
            <a:r>
              <a:rPr lang="en-US" dirty="0" err="1"/>
              <a:t>Nexthop</a:t>
            </a:r>
            <a:r>
              <a:rPr lang="en-US" dirty="0"/>
              <a:t> - Link Local </a:t>
            </a:r>
            <a:r>
              <a:rPr lang="en-US" dirty="0" err="1"/>
              <a:t>Nexthop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Network                Next Hop              Metric  </a:t>
            </a:r>
            <a:r>
              <a:rPr lang="en-US" dirty="0" err="1"/>
              <a:t>LocPref</a:t>
            </a:r>
            <a:r>
              <a:rPr lang="en-US" dirty="0"/>
              <a:t> Weight  Path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* &gt;      RD: 10.255.4.19:25604 ip-prefix 192.168.10.0/24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                      10.255.5.23           -       100     0       65523 65419 </a:t>
            </a:r>
            <a:r>
              <a:rPr lang="en-US" dirty="0" err="1"/>
              <a:t>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9669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>
          <a:extLst>
            <a:ext uri="{FF2B5EF4-FFF2-40B4-BE49-F238E27FC236}">
              <a16:creationId xmlns:a16="http://schemas.microsoft.com/office/drawing/2014/main" id="{2232DA53-B68C-A60C-1F7A-FA28B9CC2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>
            <a:extLst>
              <a:ext uri="{FF2B5EF4-FFF2-40B4-BE49-F238E27FC236}">
                <a16:creationId xmlns:a16="http://schemas.microsoft.com/office/drawing/2014/main" id="{87A7CF07-B831-82B6-41A2-B5A5A9E2DF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Маршруты которые </a:t>
            </a:r>
            <a:r>
              <a:rPr lang="en-US" sz="1800" dirty="0"/>
              <a:t>Spine </a:t>
            </a:r>
            <a:r>
              <a:rPr lang="ru-RU" sz="1800" dirty="0"/>
              <a:t>передает </a:t>
            </a:r>
            <a:r>
              <a:rPr lang="en-US" sz="1800" dirty="0"/>
              <a:t>Leaf</a:t>
            </a:r>
            <a:endParaRPr sz="1800" dirty="0"/>
          </a:p>
        </p:txBody>
      </p:sp>
      <p:sp>
        <p:nvSpPr>
          <p:cNvPr id="590" name="Google Shape;590;p73">
            <a:extLst>
              <a:ext uri="{FF2B5EF4-FFF2-40B4-BE49-F238E27FC236}">
                <a16:creationId xmlns:a16="http://schemas.microsoft.com/office/drawing/2014/main" id="{4C39F73D-70B5-16B9-E41D-ED75739AD9F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54725" y="1516450"/>
            <a:ext cx="8181900" cy="32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spine501#show </a:t>
            </a:r>
            <a:r>
              <a:rPr lang="en-US" dirty="0" err="1"/>
              <a:t>bgp</a:t>
            </a:r>
            <a:r>
              <a:rPr lang="en-US" dirty="0"/>
              <a:t> </a:t>
            </a:r>
            <a:r>
              <a:rPr lang="en-US" dirty="0" err="1"/>
              <a:t>evpn</a:t>
            </a:r>
            <a:r>
              <a:rPr lang="en-US" dirty="0"/>
              <a:t> | begin ip-prefix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* &gt;      RD: 10.255.5.11:25502 ip-prefix 192.168.1.0/24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                      10.255.5.11           -       100     0       65511 </a:t>
            </a:r>
            <a:r>
              <a:rPr lang="en-US" dirty="0" err="1"/>
              <a:t>i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* &gt;      RD: 10.255.5.12:25502 ip-prefix 192.168.1.0/24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                      10.255.5.12           -       100     0       65512 </a:t>
            </a:r>
            <a:r>
              <a:rPr lang="en-US" dirty="0" err="1"/>
              <a:t>i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* &gt;      RD: 10.255.5.13:25502 ip-prefix 192.168.1.0/24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                      10.255.5.13           -       100     0       65513 </a:t>
            </a:r>
            <a:r>
              <a:rPr lang="en-US" dirty="0" err="1"/>
              <a:t>i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* &gt;      RD: 10.255.5.16:25502 ip-prefix 192.168.1.0/24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                      10.255.5.16           -       100     0       65516 </a:t>
            </a:r>
            <a:r>
              <a:rPr lang="en-US" dirty="0" err="1"/>
              <a:t>i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* &gt;      RD: 10.255.5.17:25502 ip-prefix 192.168.1.0/24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                      10.255.5.17           -       100     0       65517 </a:t>
            </a:r>
            <a:r>
              <a:rPr lang="en-US" dirty="0" err="1"/>
              <a:t>i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* &gt;      RD: 10.255.5.18:25501 ip-prefix 192.168.1.0/24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                      10.255.5.18           -       100     0       65518 6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5530 65530 </a:t>
            </a:r>
            <a:r>
              <a:rPr lang="en-US" dirty="0" err="1"/>
              <a:t>i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* &gt;      RD: 10.255.5.18:25502 ip-prefix 192.168.1.0/24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                      10.255.5.18           -       100     0       65518 </a:t>
            </a:r>
            <a:r>
              <a:rPr lang="en-US" dirty="0" err="1"/>
              <a:t>i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* &gt;      RD: 10.255.5.19:25502 ip-prefix 192.168.1.0/24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                      10.255.5.19           -       100     0       65519 </a:t>
            </a:r>
            <a:r>
              <a:rPr lang="en-US" dirty="0" err="1"/>
              <a:t>i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* &gt;      RD: 10.255.5.18:25501 ip-prefix 192.168.1.69/32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                      10.255.5.18           -       100     0       65518 6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5530 65530 65530 65530 </a:t>
            </a:r>
            <a:r>
              <a:rPr lang="en-US" dirty="0" err="1"/>
              <a:t>i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* &gt;      RD: 10.255.4.19:25604 ip-prefix 192.168.10.0/24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                                 10.255.5.23           -       100     0       65523 6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/>
              <a:t>5419 </a:t>
            </a:r>
            <a:r>
              <a:rPr lang="en-US" dirty="0" err="1"/>
              <a:t>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526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sp>
        <p:nvSpPr>
          <p:cNvPr id="4" name="Google Shape;463;p64">
            <a:extLst>
              <a:ext uri="{FF2B5EF4-FFF2-40B4-BE49-F238E27FC236}">
                <a16:creationId xmlns:a16="http://schemas.microsoft.com/office/drawing/2014/main" id="{4CE3303C-FA6D-3B52-47BC-ED3A0DB7A898}"/>
              </a:ext>
            </a:extLst>
          </p:cNvPr>
          <p:cNvSpPr txBox="1"/>
          <p:nvPr/>
        </p:nvSpPr>
        <p:spPr>
          <a:xfrm>
            <a:off x="500550" y="1201442"/>
            <a:ext cx="8310926" cy="2166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Получилось достичь всех поставленных задач, но тематика соединения сетей разных фабрик изучена мной достаточно плохо. Мне не удалось разобраться с другими схемами соединения фабрик. 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Основные технологии </a:t>
            </a:r>
            <a:r>
              <a:rPr lang="en-US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VxLAN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понятны и легко настраиваются, сложнее далось это оптимизация маршрутной информации и </a:t>
            </a:r>
            <a:r>
              <a:rPr lang="en-US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multisite domain </a:t>
            </a:r>
            <a:r>
              <a:rPr lang="en-US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vpn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lang="en-US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среднем проект занял около 2-3 недель. Я продвинулся очень сильно в понимании работы и возможностей </a:t>
            </a:r>
            <a:r>
              <a:rPr lang="en-US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VxLAN</a:t>
            </a: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Планирую развивать свои знания на практике в своих сетях.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7" name="Google Shape;227;p43"/>
          <p:cNvGrpSpPr/>
          <p:nvPr/>
        </p:nvGrpSpPr>
        <p:grpSpPr>
          <a:xfrm>
            <a:off x="5573613" y="528650"/>
            <a:ext cx="3356305" cy="1236599"/>
            <a:chOff x="4729635" y="887067"/>
            <a:chExt cx="3375207" cy="1399343"/>
          </a:xfrm>
        </p:grpSpPr>
        <p:pic>
          <p:nvPicPr>
            <p:cNvPr id="228" name="Google Shape;22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229" name="Google Shape;229;p43"/>
            <p:cNvSpPr txBox="1"/>
            <p:nvPr/>
          </p:nvSpPr>
          <p:spPr>
            <a:xfrm>
              <a:off x="5236901" y="1064135"/>
              <a:ext cx="26946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1729</Words>
  <Application>Microsoft Office PowerPoint</Application>
  <PresentationFormat>Экран (16:9)</PresentationFormat>
  <Paragraphs>248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19</vt:i4>
      </vt:variant>
    </vt:vector>
  </HeadingPairs>
  <TitlesOfParts>
    <vt:vector size="27" baseType="lpstr">
      <vt:lpstr>Roboto</vt:lpstr>
      <vt:lpstr>Arial</vt:lpstr>
      <vt:lpstr>Roboto Medium</vt:lpstr>
      <vt:lpstr>Consolas</vt:lpstr>
      <vt:lpstr>Courier New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   </vt:lpstr>
      <vt:lpstr>План защиты</vt:lpstr>
      <vt:lpstr>Этапы построения новой модели сети Цель проекта: увеличение отказоустойчивости, пропускной способности конечных хостов, сервисное обслуживание, безопасность  </vt:lpstr>
      <vt:lpstr>Технологии для реализации проекта: </vt:lpstr>
      <vt:lpstr>L2VNI </vt:lpstr>
      <vt:lpstr>L2VNI </vt:lpstr>
      <vt:lpstr>Anycast Gateway </vt:lpstr>
      <vt:lpstr>EVPN route-type 5 </vt:lpstr>
      <vt:lpstr>EVPN route-type 5 </vt:lpstr>
      <vt:lpstr>Multisite-Domain-EVPN</vt:lpstr>
      <vt:lpstr>Конфигурация GW</vt:lpstr>
      <vt:lpstr>Маршруты Leaf</vt:lpstr>
      <vt:lpstr>Маршруты которые GW1 передает Spine</vt:lpstr>
      <vt:lpstr>Маршруты которые Spine передает Leaf</vt:lpstr>
      <vt:lpstr>Выводы 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Анвар Ибрагимов</dc:creator>
  <cp:lastModifiedBy>Анвар Ибрагимов</cp:lastModifiedBy>
  <cp:revision>1</cp:revision>
  <dcterms:modified xsi:type="dcterms:W3CDTF">2025-05-21T16:48:20Z</dcterms:modified>
</cp:coreProperties>
</file>